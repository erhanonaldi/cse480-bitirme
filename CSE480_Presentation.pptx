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7F2C82-4DAD-4795-AAE1-489E06254F47}" v="326" dt="2025-12-21T20:21:51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00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69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6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42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3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46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65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5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11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27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07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7" name="Rectangle 10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>
                <a:solidFill>
                  <a:schemeClr val="tx1"/>
                </a:solidFill>
                <a:latin typeface="Times New Roman"/>
                <a:cs typeface="Times New Roman"/>
              </a:rPr>
              <a:t>1D Bin Packing Problem using Tabu Search</a:t>
            </a:r>
          </a:p>
          <a:p>
            <a:endParaRPr lang="en-US" sz="4400" b="1" kern="12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8" name="Freeform: Shape 12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Resim 3" descr="Yeditepe Üniversitesi&quot; İçin Haber Sonuçları Listeleniyor">
            <a:extLst>
              <a:ext uri="{FF2B5EF4-FFF2-40B4-BE49-F238E27FC236}">
                <a16:creationId xmlns:a16="http://schemas.microsoft.com/office/drawing/2014/main" id="{345ADC72-2E30-2B45-81E8-294CE4047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8" y="2749818"/>
            <a:ext cx="5639091" cy="3171988"/>
          </a:xfrm>
          <a:prstGeom prst="rect">
            <a:avLst/>
          </a:prstGeom>
        </p:spPr>
      </p:pic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6547104" y="2304288"/>
            <a:ext cx="5124836" cy="40656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i="0" dirty="0">
                <a:latin typeface="Times New Roman"/>
                <a:cs typeface="Times New Roman"/>
              </a:rPr>
              <a:t>CSE480/591 – Optimization with Metaheuristics</a:t>
            </a:r>
            <a:endParaRPr lang="tr-TR" i="0" dirty="0">
              <a:latin typeface="Times New Roman"/>
              <a:cs typeface="Times New Roman"/>
            </a:endParaRPr>
          </a:p>
          <a:p>
            <a:r>
              <a:rPr lang="en-US" i="0" dirty="0">
                <a:latin typeface="Times New Roman"/>
                <a:cs typeface="Times New Roman"/>
              </a:rPr>
              <a:t> Erhan </a:t>
            </a:r>
            <a:r>
              <a:rPr lang="en-US" i="0" err="1">
                <a:latin typeface="Times New Roman"/>
                <a:cs typeface="Times New Roman"/>
              </a:rPr>
              <a:t>Onaldı</a:t>
            </a:r>
            <a:endParaRPr lang="en-US" i="0">
              <a:latin typeface="Times New Roman"/>
              <a:cs typeface="Times New Roman"/>
            </a:endParaRPr>
          </a:p>
          <a:p>
            <a:r>
              <a:rPr lang="en-US" i="0" err="1">
                <a:latin typeface="Times New Roman"/>
                <a:cs typeface="Times New Roman"/>
              </a:rPr>
              <a:t>Yeditepe</a:t>
            </a:r>
            <a:r>
              <a:rPr lang="en-US" i="0" dirty="0">
                <a:latin typeface="Times New Roman"/>
                <a:cs typeface="Times New Roman"/>
              </a:rPr>
              <a:t> University, Fall 2025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AC819A-99A3-6686-E4C5-BFE48EDA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D1EF538-09DE-160C-6DC9-F1A6730D0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tr-TR" dirty="0">
                <a:latin typeface="Times New Roman"/>
                <a:ea typeface="+mn-lt"/>
                <a:cs typeface="+mn-lt"/>
              </a:rPr>
              <a:t>Problem Definition</a:t>
            </a:r>
            <a:endParaRPr lang="tr-TR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tr-TR" err="1">
                <a:latin typeface="Times New Roman"/>
                <a:ea typeface="+mn-lt"/>
                <a:cs typeface="+mn-lt"/>
              </a:rPr>
              <a:t>Dataset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and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Benchmark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Instances</a:t>
            </a:r>
            <a:endParaRPr lang="tr-TR" err="1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tr-TR" dirty="0">
                <a:latin typeface="Times New Roman"/>
                <a:ea typeface="+mn-lt"/>
                <a:cs typeface="+mn-lt"/>
              </a:rPr>
              <a:t>Tabu </a:t>
            </a:r>
            <a:r>
              <a:rPr lang="tr-TR" err="1">
                <a:latin typeface="Times New Roman"/>
                <a:ea typeface="+mn-lt"/>
                <a:cs typeface="+mn-lt"/>
              </a:rPr>
              <a:t>Search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Algorithm</a:t>
            </a:r>
            <a:endParaRPr lang="tr-TR" err="1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tr-TR" err="1">
                <a:latin typeface="Times New Roman"/>
                <a:ea typeface="+mn-lt"/>
                <a:cs typeface="+mn-lt"/>
              </a:rPr>
              <a:t>Experimental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Study</a:t>
            </a:r>
            <a:endParaRPr lang="tr-TR" err="1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tr-TR" err="1">
                <a:latin typeface="Times New Roman"/>
                <a:ea typeface="+mn-lt"/>
                <a:cs typeface="+mn-lt"/>
              </a:rPr>
              <a:t>Results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and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Discussion</a:t>
            </a:r>
            <a:endParaRPr lang="tr-TR" err="1">
              <a:latin typeface="Times New Roman"/>
            </a:endParaRP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7092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ED6586-C299-2E56-0AE7-DAAE1F5F0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Times New Roman"/>
                <a:cs typeface="Times New Roman"/>
              </a:rPr>
              <a:t>Problem Definition: 1D Bin Packing</a:t>
            </a:r>
          </a:p>
          <a:p>
            <a:endParaRPr lang="tr-TR" dirty="0">
              <a:latin typeface="Times New Roman"/>
              <a:ea typeface="+mj-lt"/>
              <a:cs typeface="Times New Roman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2088822-2F89-1DF5-E962-E2833D809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One-Dimensional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Bin Packing Problem (1D-BPP) is a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classical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NP-hard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combinatorial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optimization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problem.</a:t>
            </a:r>
            <a:endParaRPr lang="tr-TR" dirty="0"/>
          </a:p>
          <a:p>
            <a:pPr marL="0" indent="0">
              <a:buNone/>
            </a:pP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Given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a set of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items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with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fixed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sizes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and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identical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bins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with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a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fixed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capacity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goal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is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to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assign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each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item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to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exactly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one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bin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such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that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total size of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items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in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any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bin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does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not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exceed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capacity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tr-TR" dirty="0"/>
          </a:p>
          <a:p>
            <a:pPr marL="0" indent="0">
              <a:buNone/>
            </a:pP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objective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is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to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minimize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total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number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of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bins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used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tr-TR" dirty="0"/>
          </a:p>
          <a:p>
            <a:pPr marL="0" indent="0">
              <a:buNone/>
            </a:pP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Due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to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its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computational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complexity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and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wide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range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of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real-world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applications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, 1D-BPP is a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common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benchmark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problem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for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evaluating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metaheuristic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optimization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algorithms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56820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BA70596-64CD-0553-282E-EC43F43E7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>
                <a:latin typeface="Times New Roman"/>
                <a:cs typeface="Times New Roman"/>
              </a:rPr>
              <a:t>Formal Problem Definition</a:t>
            </a:r>
          </a:p>
          <a:p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E6A991F-70D9-59AA-89DF-135BE4151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tr-TR" err="1">
                <a:ea typeface="+mn-lt"/>
                <a:cs typeface="+mn-lt"/>
              </a:rPr>
              <a:t>Decision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variables</a:t>
            </a:r>
            <a:r>
              <a:rPr lang="tr-TR" dirty="0">
                <a:ea typeface="+mn-lt"/>
                <a:cs typeface="+mn-lt"/>
              </a:rPr>
              <a:t>: </a:t>
            </a:r>
            <a:r>
              <a:rPr lang="tr-TR" err="1">
                <a:ea typeface="+mn-lt"/>
                <a:cs typeface="+mn-lt"/>
              </a:rPr>
              <a:t>x</a:t>
            </a:r>
            <a:r>
              <a:rPr lang="tr-TR" baseline="-25000" err="1">
                <a:ea typeface="+mn-lt"/>
                <a:cs typeface="+mn-lt"/>
              </a:rPr>
              <a:t>ij</a:t>
            </a:r>
            <a:r>
              <a:rPr lang="tr-TR" dirty="0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y</a:t>
            </a:r>
            <a:r>
              <a:rPr lang="tr-TR" baseline="-25000" err="1">
                <a:ea typeface="+mn-lt"/>
                <a:cs typeface="+mn-lt"/>
              </a:rPr>
              <a:t>j</a:t>
            </a:r>
            <a:endParaRPr lang="tr-TR" baseline="-25000" err="1"/>
          </a:p>
          <a:p>
            <a:pPr marL="285750" indent="-285750">
              <a:buFont typeface="Arial"/>
              <a:buChar char="•"/>
            </a:pPr>
            <a:r>
              <a:rPr lang="tr-TR" err="1">
                <a:ea typeface="+mn-lt"/>
                <a:cs typeface="+mn-lt"/>
              </a:rPr>
              <a:t>Objective</a:t>
            </a:r>
            <a:r>
              <a:rPr lang="tr-TR" dirty="0">
                <a:ea typeface="+mn-lt"/>
                <a:cs typeface="+mn-lt"/>
              </a:rPr>
              <a:t>: minimize </a:t>
            </a:r>
            <a:r>
              <a:rPr lang="tr-TR" err="1">
                <a:ea typeface="+mn-lt"/>
                <a:cs typeface="+mn-lt"/>
              </a:rPr>
              <a:t>Σy</a:t>
            </a:r>
            <a:r>
              <a:rPr lang="tr-TR" baseline="-25000" err="1">
                <a:ea typeface="+mn-lt"/>
                <a:cs typeface="+mn-lt"/>
              </a:rPr>
              <a:t>j</a:t>
            </a:r>
            <a:endParaRPr lang="tr-TR" baseline="-25000" err="1"/>
          </a:p>
          <a:p>
            <a:pPr marL="285750" indent="-285750">
              <a:buFont typeface="Arial"/>
              <a:buChar char="•"/>
            </a:pPr>
            <a:r>
              <a:rPr lang="tr-TR" dirty="0" err="1">
                <a:ea typeface="+mn-lt"/>
                <a:cs typeface="+mn-lt"/>
              </a:rPr>
              <a:t>Capacity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and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assignment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constraints</a:t>
            </a:r>
            <a:endParaRPr lang="tr-TR" dirty="0" err="1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38432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6614D4-1F91-60AE-D9F8-45677005B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err="1">
                <a:latin typeface="Times New Roman"/>
                <a:cs typeface="Times New Roman"/>
              </a:rPr>
              <a:t>Dataset</a:t>
            </a:r>
            <a:r>
              <a:rPr lang="tr-TR" dirty="0">
                <a:latin typeface="Times New Roman"/>
                <a:cs typeface="Times New Roman"/>
              </a:rPr>
              <a:t> </a:t>
            </a:r>
            <a:r>
              <a:rPr lang="tr-TR" err="1">
                <a:latin typeface="Times New Roman"/>
                <a:cs typeface="Times New Roman"/>
              </a:rPr>
              <a:t>and</a:t>
            </a:r>
            <a:r>
              <a:rPr lang="tr-TR" dirty="0">
                <a:latin typeface="Times New Roman"/>
                <a:cs typeface="Times New Roman"/>
              </a:rPr>
              <a:t> </a:t>
            </a:r>
            <a:r>
              <a:rPr lang="tr-TR" err="1">
                <a:latin typeface="Times New Roman"/>
                <a:cs typeface="Times New Roman"/>
              </a:rPr>
              <a:t>Benchmark</a:t>
            </a:r>
            <a:r>
              <a:rPr lang="tr-TR" dirty="0">
                <a:latin typeface="Times New Roman"/>
                <a:cs typeface="Times New Roman"/>
              </a:rPr>
              <a:t> </a:t>
            </a:r>
            <a:r>
              <a:rPr lang="tr-TR" err="1">
                <a:latin typeface="Times New Roman"/>
                <a:cs typeface="Times New Roman"/>
              </a:rPr>
              <a:t>Instances</a:t>
            </a:r>
            <a:endParaRPr lang="tr-TR">
              <a:latin typeface="Times New Roman"/>
              <a:cs typeface="Times New Roman"/>
            </a:endParaRPr>
          </a:p>
          <a:p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33749D4-E05A-1F7E-C140-397E3C2DA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To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evaluate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proposed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Tabu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Search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algorithm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, multiple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datasets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were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used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tr-TR" dirty="0"/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First,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small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example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instance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defined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in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Phase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2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was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employed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to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verify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correctness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of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implementation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tr-TR" dirty="0"/>
          </a:p>
          <a:p>
            <a:pPr marL="0" indent="0">
              <a:buNone/>
            </a:pP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For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performance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evaluation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benchmark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instances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from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OR-Library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Falkenauer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dataset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were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selected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covering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small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medium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and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large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problem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sizes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tr-TR" dirty="0"/>
          </a:p>
          <a:p>
            <a:pPr marL="0" indent="0">
              <a:buNone/>
            </a:pP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In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addition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synthetic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instances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with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uniformly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distributed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item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sizes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were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generated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to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further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test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scalability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under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controlled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ea typeface="+mn-lt"/>
                <a:cs typeface="+mn-lt"/>
              </a:rPr>
              <a:t>conditions</a:t>
            </a:r>
            <a:r>
              <a:rPr lang="tr-TR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01272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80219CA-71BF-54E1-ED63-277DF78C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tr-TR" dirty="0">
                <a:latin typeface="Times New Roman"/>
                <a:cs typeface="Times New Roman"/>
              </a:rPr>
              <a:t>Solution </a:t>
            </a:r>
            <a:r>
              <a:rPr lang="tr-TR" err="1">
                <a:latin typeface="Times New Roman"/>
                <a:cs typeface="Times New Roman"/>
              </a:rPr>
              <a:t>Representation</a:t>
            </a:r>
            <a:endParaRPr lang="tr-TR">
              <a:latin typeface="Times New Roman"/>
              <a:cs typeface="Times New Roman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Resim 3" descr="metin, ekran görüntüsü, diyagram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12E5BAA-4323-B618-E2DE-BAC4F03BD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8" y="2453765"/>
            <a:ext cx="5639091" cy="3764093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D0C7C33-89A9-857B-589A-6DABA4D92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104" y="2304288"/>
            <a:ext cx="5129784" cy="40507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dirty="0">
                <a:latin typeface="Times New Roman"/>
                <a:ea typeface="+mn-lt"/>
                <a:cs typeface="+mn-lt"/>
              </a:rPr>
              <a:t>A </a:t>
            </a:r>
            <a:r>
              <a:rPr lang="tr-TR" err="1">
                <a:latin typeface="Times New Roman"/>
                <a:ea typeface="+mn-lt"/>
                <a:cs typeface="+mn-lt"/>
              </a:rPr>
              <a:t>candidate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solution</a:t>
            </a:r>
            <a:r>
              <a:rPr lang="tr-TR" dirty="0">
                <a:latin typeface="Times New Roman"/>
                <a:ea typeface="+mn-lt"/>
                <a:cs typeface="+mn-lt"/>
              </a:rPr>
              <a:t> is </a:t>
            </a:r>
            <a:r>
              <a:rPr lang="tr-TR" err="1">
                <a:latin typeface="Times New Roman"/>
                <a:ea typeface="+mn-lt"/>
                <a:cs typeface="+mn-lt"/>
              </a:rPr>
              <a:t>represented</a:t>
            </a:r>
            <a:r>
              <a:rPr lang="tr-TR" dirty="0">
                <a:latin typeface="Times New Roman"/>
                <a:ea typeface="+mn-lt"/>
                <a:cs typeface="+mn-lt"/>
              </a:rPr>
              <a:t> as a </a:t>
            </a:r>
            <a:r>
              <a:rPr lang="tr-TR" err="1">
                <a:latin typeface="Times New Roman"/>
                <a:ea typeface="+mn-lt"/>
                <a:cs typeface="+mn-lt"/>
              </a:rPr>
              <a:t>permutation</a:t>
            </a:r>
            <a:r>
              <a:rPr lang="tr-TR" dirty="0">
                <a:latin typeface="Times New Roman"/>
                <a:ea typeface="+mn-lt"/>
                <a:cs typeface="+mn-lt"/>
              </a:rPr>
              <a:t> of </a:t>
            </a:r>
            <a:r>
              <a:rPr lang="tr-TR" err="1">
                <a:latin typeface="Times New Roman"/>
                <a:ea typeface="+mn-lt"/>
                <a:cs typeface="+mn-lt"/>
              </a:rPr>
              <a:t>item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indices</a:t>
            </a:r>
            <a:r>
              <a:rPr lang="tr-TR" dirty="0">
                <a:latin typeface="Times New Roman"/>
                <a:ea typeface="+mn-lt"/>
                <a:cs typeface="+mn-lt"/>
              </a:rPr>
              <a:t>.</a:t>
            </a:r>
            <a:endParaRPr lang="tr-TR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tr-TR" err="1">
                <a:latin typeface="Times New Roman"/>
                <a:ea typeface="+mn-lt"/>
                <a:cs typeface="+mn-lt"/>
              </a:rPr>
              <a:t>This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permutation</a:t>
            </a:r>
            <a:r>
              <a:rPr lang="tr-TR" dirty="0">
                <a:latin typeface="Times New Roman"/>
                <a:ea typeface="+mn-lt"/>
                <a:cs typeface="+mn-lt"/>
              </a:rPr>
              <a:t> is </a:t>
            </a:r>
            <a:r>
              <a:rPr lang="tr-TR" err="1">
                <a:latin typeface="Times New Roman"/>
                <a:ea typeface="+mn-lt"/>
                <a:cs typeface="+mn-lt"/>
              </a:rPr>
              <a:t>decoded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into</a:t>
            </a:r>
            <a:r>
              <a:rPr lang="tr-TR" dirty="0">
                <a:latin typeface="Times New Roman"/>
                <a:ea typeface="+mn-lt"/>
                <a:cs typeface="+mn-lt"/>
              </a:rPr>
              <a:t> an </a:t>
            </a:r>
            <a:r>
              <a:rPr lang="tr-TR" err="1">
                <a:latin typeface="Times New Roman"/>
                <a:ea typeface="+mn-lt"/>
                <a:cs typeface="+mn-lt"/>
              </a:rPr>
              <a:t>actual</a:t>
            </a:r>
            <a:r>
              <a:rPr lang="tr-TR" dirty="0">
                <a:latin typeface="Times New Roman"/>
                <a:ea typeface="+mn-lt"/>
                <a:cs typeface="+mn-lt"/>
              </a:rPr>
              <a:t> bin packing </a:t>
            </a:r>
            <a:r>
              <a:rPr lang="tr-TR" err="1">
                <a:latin typeface="Times New Roman"/>
                <a:ea typeface="+mn-lt"/>
                <a:cs typeface="+mn-lt"/>
              </a:rPr>
              <a:t>solution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using</a:t>
            </a:r>
            <a:r>
              <a:rPr lang="tr-TR" dirty="0">
                <a:latin typeface="Times New Roman"/>
                <a:ea typeface="+mn-lt"/>
                <a:cs typeface="+mn-lt"/>
              </a:rPr>
              <a:t> a Best-Fit </a:t>
            </a:r>
            <a:r>
              <a:rPr lang="tr-TR" err="1">
                <a:latin typeface="Times New Roman"/>
                <a:ea typeface="+mn-lt"/>
                <a:cs typeface="+mn-lt"/>
              </a:rPr>
              <a:t>constructive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heuristic</a:t>
            </a:r>
            <a:r>
              <a:rPr lang="tr-TR" dirty="0">
                <a:latin typeface="Times New Roman"/>
                <a:ea typeface="+mn-lt"/>
                <a:cs typeface="+mn-lt"/>
              </a:rPr>
              <a:t>.</a:t>
            </a:r>
            <a:endParaRPr lang="tr-TR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tr-TR" err="1">
                <a:latin typeface="Times New Roman"/>
                <a:ea typeface="+mn-lt"/>
                <a:cs typeface="+mn-lt"/>
              </a:rPr>
              <a:t>Items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are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processed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sequentially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according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to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permutation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order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and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placed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into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feasible</a:t>
            </a:r>
            <a:r>
              <a:rPr lang="tr-TR" dirty="0">
                <a:latin typeface="Times New Roman"/>
                <a:ea typeface="+mn-lt"/>
                <a:cs typeface="+mn-lt"/>
              </a:rPr>
              <a:t> bin </a:t>
            </a:r>
            <a:r>
              <a:rPr lang="tr-TR" err="1">
                <a:latin typeface="Times New Roman"/>
                <a:ea typeface="+mn-lt"/>
                <a:cs typeface="+mn-lt"/>
              </a:rPr>
              <a:t>that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leaves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least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remaining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space</a:t>
            </a:r>
            <a:r>
              <a:rPr lang="tr-TR" dirty="0">
                <a:latin typeface="Times New Roman"/>
                <a:ea typeface="+mn-lt"/>
                <a:cs typeface="+mn-lt"/>
              </a:rPr>
              <a:t>.</a:t>
            </a:r>
            <a:endParaRPr lang="tr-TR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tr-TR" err="1">
                <a:latin typeface="Times New Roman"/>
                <a:ea typeface="+mn-lt"/>
                <a:cs typeface="+mn-lt"/>
              </a:rPr>
              <a:t>After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decoding</a:t>
            </a:r>
            <a:r>
              <a:rPr lang="tr-TR" dirty="0">
                <a:latin typeface="Times New Roman"/>
                <a:ea typeface="+mn-lt"/>
                <a:cs typeface="+mn-lt"/>
              </a:rPr>
              <a:t>, a post-</a:t>
            </a:r>
            <a:r>
              <a:rPr lang="tr-TR" err="1">
                <a:latin typeface="Times New Roman"/>
                <a:ea typeface="+mn-lt"/>
                <a:cs typeface="+mn-lt"/>
              </a:rPr>
              <a:t>processing</a:t>
            </a:r>
            <a:r>
              <a:rPr lang="tr-TR" dirty="0">
                <a:latin typeface="Times New Roman"/>
                <a:ea typeface="+mn-lt"/>
                <a:cs typeface="+mn-lt"/>
              </a:rPr>
              <a:t> step </a:t>
            </a:r>
            <a:r>
              <a:rPr lang="tr-TR" err="1">
                <a:latin typeface="Times New Roman"/>
                <a:ea typeface="+mn-lt"/>
                <a:cs typeface="+mn-lt"/>
              </a:rPr>
              <a:t>attempts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to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reduce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number</a:t>
            </a:r>
            <a:r>
              <a:rPr lang="tr-TR" dirty="0">
                <a:latin typeface="Times New Roman"/>
                <a:ea typeface="+mn-lt"/>
                <a:cs typeface="+mn-lt"/>
              </a:rPr>
              <a:t> of </a:t>
            </a:r>
            <a:r>
              <a:rPr lang="tr-TR" err="1">
                <a:latin typeface="Times New Roman"/>
                <a:ea typeface="+mn-lt"/>
                <a:cs typeface="+mn-lt"/>
              </a:rPr>
              <a:t>bins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by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relocating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items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from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lightly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loaded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bins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to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other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bins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whenever</a:t>
            </a:r>
            <a:r>
              <a:rPr lang="tr-TR" dirty="0"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latin typeface="Times New Roman"/>
                <a:ea typeface="+mn-lt"/>
                <a:cs typeface="+mn-lt"/>
              </a:rPr>
              <a:t>possible</a:t>
            </a:r>
            <a:r>
              <a:rPr lang="tr-TR" dirty="0">
                <a:latin typeface="Times New Roman"/>
                <a:ea typeface="+mn-lt"/>
                <a:cs typeface="+mn-lt"/>
              </a:rPr>
              <a:t>.</a:t>
            </a:r>
            <a:endParaRPr lang="tr-TR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tr-TR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2188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3A2283-857B-FC66-1CBA-9DD87559A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Times New Roman"/>
                <a:cs typeface="Times New Roman"/>
              </a:rPr>
              <a:t>Tabu </a:t>
            </a:r>
            <a:r>
              <a:rPr lang="tr-TR" dirty="0" err="1">
                <a:latin typeface="Times New Roman"/>
                <a:cs typeface="Times New Roman"/>
              </a:rPr>
              <a:t>Search</a:t>
            </a:r>
            <a:r>
              <a:rPr lang="tr-TR" dirty="0">
                <a:latin typeface="Times New Roman"/>
                <a:cs typeface="Times New Roman"/>
              </a:rPr>
              <a:t> </a:t>
            </a:r>
            <a:r>
              <a:rPr lang="tr-TR" dirty="0" err="1">
                <a:latin typeface="Times New Roman"/>
                <a:cs typeface="Times New Roman"/>
              </a:rPr>
              <a:t>Algorithm</a:t>
            </a:r>
            <a:endParaRPr lang="tr-TR" dirty="0">
              <a:latin typeface="Times New Roman"/>
              <a:cs typeface="Times New Roman"/>
            </a:endParaRPr>
          </a:p>
          <a:p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F8A1FC2-6583-85D4-01FE-CD552ACA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Tabu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Search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is a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trajectory-based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metaheuristic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that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iteratively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explores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neighborhood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of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current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solution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.</a:t>
            </a:r>
            <a:endParaRPr lang="tr-TR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Starting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from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an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initial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permutation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generated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using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decreasing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item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sizes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algorithm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evaluates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neighboring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solutions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obtained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through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swap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insert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moves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.</a:t>
            </a:r>
            <a:endParaRPr lang="tr-TR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 tabu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list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is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used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to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prevent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cycling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by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temporarily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forbidding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recently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applied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moves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while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an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aspiration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criterion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allows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tabu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moves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if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they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improve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global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best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solution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.</a:t>
            </a:r>
            <a:endParaRPr lang="tr-TR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Diversification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is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applied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when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search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stagnates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to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explore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new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regions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of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solution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space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.</a:t>
            </a:r>
            <a:endParaRPr lang="tr-TR" dirty="0">
              <a:latin typeface="Times New Roman"/>
            </a:endParaRP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41314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07F0F2E-FD46-3784-6136-C1EA8574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sz="3700" dirty="0">
                <a:latin typeface="Times New Roman"/>
                <a:cs typeface="Times New Roman"/>
              </a:rPr>
              <a:t>Tabu </a:t>
            </a:r>
            <a:r>
              <a:rPr lang="tr-TR" sz="3700" err="1">
                <a:latin typeface="Times New Roman"/>
                <a:cs typeface="Times New Roman"/>
              </a:rPr>
              <a:t>Search</a:t>
            </a:r>
            <a:r>
              <a:rPr lang="tr-TR" sz="3700" dirty="0">
                <a:latin typeface="Times New Roman"/>
                <a:cs typeface="Times New Roman"/>
              </a:rPr>
              <a:t> </a:t>
            </a:r>
            <a:r>
              <a:rPr lang="tr-TR" sz="3700" err="1">
                <a:latin typeface="Times New Roman"/>
                <a:cs typeface="Times New Roman"/>
              </a:rPr>
              <a:t>Algorithm</a:t>
            </a:r>
            <a:r>
              <a:rPr lang="tr-TR" sz="3700" dirty="0">
                <a:latin typeface="Times New Roman"/>
                <a:cs typeface="Times New Roman"/>
              </a:rPr>
              <a:t> </a:t>
            </a:r>
            <a:r>
              <a:rPr lang="tr-TR" sz="3700" err="1">
                <a:latin typeface="Times New Roman"/>
                <a:cs typeface="Times New Roman"/>
              </a:rPr>
              <a:t>Pseudo</a:t>
            </a:r>
            <a:r>
              <a:rPr lang="tr-TR" sz="3700" dirty="0">
                <a:latin typeface="Times New Roman"/>
                <a:cs typeface="Times New Roman"/>
              </a:rPr>
              <a:t> </a:t>
            </a:r>
            <a:r>
              <a:rPr lang="tr-TR" sz="3700" err="1">
                <a:latin typeface="Times New Roman"/>
                <a:cs typeface="Times New Roman"/>
              </a:rPr>
              <a:t>Code</a:t>
            </a:r>
            <a:endParaRPr lang="tr-TR" sz="370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tr-TR" sz="3700" dirty="0">
              <a:latin typeface="Times New Roman"/>
              <a:cs typeface="Times New Roman"/>
            </a:endParaRPr>
          </a:p>
        </p:txBody>
      </p:sp>
      <p:pic>
        <p:nvPicPr>
          <p:cNvPr id="4" name="İçerik Yer Tutucusu 3" descr="metin, yazı tipi, ekran görüntüsü, doküman, belg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2124A58-AF7C-7641-F982-AAF9CBDB7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31" y="508090"/>
            <a:ext cx="4217894" cy="583791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56E774-CFB8-B041-6563-B7890FF26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This slide summarizes the overall flow of the Tabu Search algorithm used in this study.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 algorithm repeatedly samples a subset of neighboring solutions, selects the best admissible move according to the objective function, and updates the tabu memory.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 process continues until a stopping condition is satisfied.</a:t>
            </a:r>
            <a:endParaRPr lang="en-US" dirty="0">
              <a:latin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32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E78554-317B-F603-9A04-DC5661522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latin typeface="Times New Roman"/>
                <a:cs typeface="Times New Roman"/>
              </a:rPr>
              <a:t>Experimental</a:t>
            </a:r>
            <a:r>
              <a:rPr lang="tr-TR" dirty="0">
                <a:latin typeface="Times New Roman"/>
                <a:cs typeface="Times New Roman"/>
              </a:rPr>
              <a:t> Setup</a:t>
            </a:r>
          </a:p>
          <a:p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FB39FD6-FAD7-4831-5D45-7ED49C2E8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All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experiments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were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conducted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using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a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fixed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experimental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protocol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to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ensure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fairness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reproducibility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.</a:t>
            </a:r>
            <a:endParaRPr lang="tr-TR">
              <a:latin typeface="Times New Roman"/>
              <a:cs typeface="Times New Roman"/>
            </a:endParaRPr>
          </a:p>
          <a:p>
            <a:pPr>
              <a:buNone/>
            </a:pP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Each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instance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was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executed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five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independent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times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using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different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random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seeds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.</a:t>
            </a:r>
            <a:endParaRPr lang="tr-TR">
              <a:latin typeface="Times New Roman"/>
              <a:cs typeface="Times New Roman"/>
            </a:endParaRPr>
          </a:p>
          <a:p>
            <a:pPr>
              <a:buNone/>
            </a:pP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A time limit of two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seconds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per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run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was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imposed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performance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was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evaluated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using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mean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best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objective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values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standard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deviation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computation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time.</a:t>
            </a:r>
            <a:endParaRPr lang="tr-TR">
              <a:latin typeface="Times New Roman"/>
              <a:cs typeface="Times New Roman"/>
            </a:endParaRPr>
          </a:p>
          <a:p>
            <a:pPr>
              <a:buNone/>
            </a:pP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same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algorithm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parameters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were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used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across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all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benchmark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instances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.</a:t>
            </a:r>
            <a:endParaRPr lang="tr-TR" dirty="0">
              <a:latin typeface="Times New Roman"/>
            </a:endParaRPr>
          </a:p>
          <a:p>
            <a:pPr>
              <a:buNone/>
            </a:pPr>
            <a:endParaRPr lang="tr-TR" sz="1100" dirty="0">
              <a:solidFill>
                <a:srgbClr val="0E0E0E"/>
              </a:solidFill>
            </a:endParaRP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5407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3EA4C36-4FD1-0405-1604-83B821A95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0592"/>
          </a:xfrm>
        </p:spPr>
        <p:txBody>
          <a:bodyPr>
            <a:normAutofit/>
          </a:bodyPr>
          <a:lstStyle/>
          <a:p>
            <a:r>
              <a:rPr lang="tr-TR" dirty="0">
                <a:latin typeface="Times New Roman"/>
                <a:cs typeface="Times New Roman"/>
              </a:rPr>
              <a:t>TP2 &amp; </a:t>
            </a:r>
            <a:r>
              <a:rPr lang="tr-TR" err="1">
                <a:latin typeface="Times New Roman"/>
                <a:cs typeface="Times New Roman"/>
              </a:rPr>
              <a:t>Synthetic</a:t>
            </a:r>
            <a:r>
              <a:rPr lang="tr-TR" dirty="0">
                <a:latin typeface="Times New Roman"/>
                <a:cs typeface="Times New Roman"/>
              </a:rPr>
              <a:t> </a:t>
            </a:r>
            <a:r>
              <a:rPr lang="tr-TR" err="1">
                <a:latin typeface="Times New Roman"/>
                <a:cs typeface="Times New Roman"/>
              </a:rPr>
              <a:t>Instances</a:t>
            </a:r>
            <a:endParaRPr lang="tr-TR">
              <a:latin typeface="Times New Roman"/>
              <a:cs typeface="Times New Roman"/>
            </a:endParaRPr>
          </a:p>
          <a:p>
            <a:endParaRPr lang="tr-T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11650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3EBB659-8EC4-E76B-0351-1F1A77E98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978408"/>
            <a:ext cx="4946904" cy="245059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tr-TR" sz="1500" err="1">
                <a:latin typeface="Times New Roman"/>
                <a:ea typeface="+mn-lt"/>
                <a:cs typeface="+mn-lt"/>
              </a:rPr>
              <a:t>The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results</a:t>
            </a:r>
            <a:r>
              <a:rPr lang="tr-TR" sz="1500">
                <a:latin typeface="Times New Roman"/>
                <a:ea typeface="+mn-lt"/>
                <a:cs typeface="+mn-lt"/>
              </a:rPr>
              <a:t> on the Phase 2 example instance demonstrate that the algorithm consistently finds the optimal solution using four bins, confirming correctness.</a:t>
            </a:r>
            <a:endParaRPr lang="tr-TR" sz="1500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tr-TR" sz="1500" err="1">
                <a:latin typeface="Times New Roman"/>
                <a:ea typeface="+mn-lt"/>
                <a:cs typeface="+mn-lt"/>
              </a:rPr>
              <a:t>Synthetic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instances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exhibit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stable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behavior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across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runs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due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to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the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fixed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random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seed</a:t>
            </a:r>
            <a:r>
              <a:rPr lang="tr-TR" sz="1500">
                <a:latin typeface="Times New Roman"/>
                <a:ea typeface="+mn-lt"/>
                <a:cs typeface="+mn-lt"/>
              </a:rPr>
              <a:t>, </a:t>
            </a:r>
            <a:r>
              <a:rPr lang="tr-TR" sz="1500" err="1">
                <a:latin typeface="Times New Roman"/>
                <a:ea typeface="+mn-lt"/>
                <a:cs typeface="+mn-lt"/>
              </a:rPr>
              <a:t>serving</a:t>
            </a:r>
            <a:r>
              <a:rPr lang="tr-TR" sz="1500">
                <a:latin typeface="Times New Roman"/>
                <a:ea typeface="+mn-lt"/>
                <a:cs typeface="+mn-lt"/>
              </a:rPr>
              <a:t> as a </a:t>
            </a:r>
            <a:r>
              <a:rPr lang="tr-TR" sz="1500" err="1">
                <a:latin typeface="Times New Roman"/>
                <a:ea typeface="+mn-lt"/>
                <a:cs typeface="+mn-lt"/>
              </a:rPr>
              <a:t>scalability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sanity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check</a:t>
            </a:r>
            <a:r>
              <a:rPr lang="tr-TR" sz="1500">
                <a:latin typeface="Times New Roman"/>
                <a:ea typeface="+mn-lt"/>
                <a:cs typeface="+mn-lt"/>
              </a:rPr>
              <a:t>.</a:t>
            </a:r>
            <a:endParaRPr lang="tr-TR" sz="1500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tr-TR" sz="1500" err="1">
                <a:latin typeface="Times New Roman"/>
                <a:ea typeface="+mn-lt"/>
                <a:cs typeface="+mn-lt"/>
              </a:rPr>
              <a:t>In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all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cases</a:t>
            </a:r>
            <a:r>
              <a:rPr lang="tr-TR" sz="1500">
                <a:latin typeface="Times New Roman"/>
                <a:ea typeface="+mn-lt"/>
                <a:cs typeface="+mn-lt"/>
              </a:rPr>
              <a:t>, </a:t>
            </a:r>
            <a:r>
              <a:rPr lang="tr-TR" sz="1500" err="1">
                <a:latin typeface="Times New Roman"/>
                <a:ea typeface="+mn-lt"/>
                <a:cs typeface="+mn-lt"/>
              </a:rPr>
              <a:t>the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standard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deviation</a:t>
            </a:r>
            <a:r>
              <a:rPr lang="tr-TR" sz="1500">
                <a:latin typeface="Times New Roman"/>
                <a:ea typeface="+mn-lt"/>
                <a:cs typeface="+mn-lt"/>
              </a:rPr>
              <a:t> is </a:t>
            </a:r>
            <a:r>
              <a:rPr lang="tr-TR" sz="1500" err="1">
                <a:latin typeface="Times New Roman"/>
                <a:ea typeface="+mn-lt"/>
                <a:cs typeface="+mn-lt"/>
              </a:rPr>
              <a:t>zero</a:t>
            </a:r>
            <a:r>
              <a:rPr lang="tr-TR" sz="1500">
                <a:latin typeface="Times New Roman"/>
                <a:ea typeface="+mn-lt"/>
                <a:cs typeface="+mn-lt"/>
              </a:rPr>
              <a:t>, </a:t>
            </a:r>
            <a:r>
              <a:rPr lang="tr-TR" sz="1500" err="1">
                <a:latin typeface="Times New Roman"/>
                <a:ea typeface="+mn-lt"/>
                <a:cs typeface="+mn-lt"/>
              </a:rPr>
              <a:t>indicating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deterministic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behavior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under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the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chosen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experimental</a:t>
            </a:r>
            <a:r>
              <a:rPr lang="tr-TR" sz="1500">
                <a:latin typeface="Times New Roman"/>
                <a:ea typeface="+mn-lt"/>
                <a:cs typeface="+mn-lt"/>
              </a:rPr>
              <a:t> </a:t>
            </a:r>
            <a:r>
              <a:rPr lang="tr-TR" sz="1500" err="1">
                <a:latin typeface="Times New Roman"/>
                <a:ea typeface="+mn-lt"/>
                <a:cs typeface="+mn-lt"/>
              </a:rPr>
              <a:t>settings</a:t>
            </a:r>
            <a:r>
              <a:rPr lang="tr-TR" sz="1500">
                <a:latin typeface="Times New Roman"/>
                <a:ea typeface="+mn-lt"/>
                <a:cs typeface="+mn-lt"/>
              </a:rPr>
              <a:t>.</a:t>
            </a:r>
            <a:endParaRPr lang="tr-TR" sz="1500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buNone/>
            </a:pPr>
            <a:endParaRPr lang="tr-TR" sz="1500"/>
          </a:p>
        </p:txBody>
      </p:sp>
      <p:pic>
        <p:nvPicPr>
          <p:cNvPr id="4" name="Resim 3" descr="metin, yazı tipi, ekran görüntüsü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334C14E-D7D5-7055-DFAC-18DDF3952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13" y="5241744"/>
            <a:ext cx="5038931" cy="617268"/>
          </a:xfrm>
          <a:prstGeom prst="rect">
            <a:avLst/>
          </a:prstGeom>
        </p:spPr>
      </p:pic>
      <p:pic>
        <p:nvPicPr>
          <p:cNvPr id="5" name="Resim 4" descr="metin, yazı tipi, ekran görüntüsü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4BAFCA7-8756-BC49-C2E9-EE4C03BD9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294" y="5242760"/>
            <a:ext cx="5014740" cy="110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65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063E21-8BBC-EAA1-E7FC-6300C5FE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latin typeface="Times New Roman"/>
                <a:cs typeface="Times New Roman"/>
              </a:rPr>
              <a:t> </a:t>
            </a:r>
            <a:r>
              <a:rPr lang="tr-TR" err="1">
                <a:latin typeface="Times New Roman"/>
                <a:cs typeface="Times New Roman"/>
              </a:rPr>
              <a:t>Results</a:t>
            </a:r>
            <a:r>
              <a:rPr lang="tr-TR" dirty="0">
                <a:latin typeface="Times New Roman"/>
                <a:cs typeface="Times New Roman"/>
              </a:rPr>
              <a:t>: OR-Library </a:t>
            </a:r>
            <a:r>
              <a:rPr lang="tr-TR" err="1">
                <a:latin typeface="Times New Roman"/>
                <a:cs typeface="Times New Roman"/>
              </a:rPr>
              <a:t>Benchmarks</a:t>
            </a:r>
            <a:endParaRPr lang="tr-TR">
              <a:latin typeface="Times New Roman"/>
              <a:cs typeface="Times New Roman"/>
            </a:endParaRPr>
          </a:p>
          <a:p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606F14B-8BFB-7A14-56CC-CC94F4088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Experimental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results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on OR-Library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benchmark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instances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show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that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proposed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Tabu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Search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algorithm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produces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stable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solutions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across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different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problem </a:t>
            </a:r>
            <a:r>
              <a:rPr lang="tr-TR" dirty="0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sizes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.</a:t>
            </a:r>
            <a:endParaRPr lang="tr-TR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Due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to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fixed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time limit,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runtime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values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are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nearly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constant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while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early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termination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occurs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when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theoretical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lower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bound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is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reached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.</a:t>
            </a:r>
            <a:endParaRPr lang="tr-TR">
              <a:latin typeface="Times New Roman"/>
              <a:cs typeface="Times New Roman"/>
            </a:endParaRPr>
          </a:p>
          <a:p>
            <a:pPr>
              <a:buNone/>
            </a:pP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algorithm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performs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consistently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on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both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uniform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triplet-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based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instance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classes</a:t>
            </a:r>
            <a:r>
              <a:rPr lang="tr-TR" dirty="0">
                <a:solidFill>
                  <a:srgbClr val="0E0E0E"/>
                </a:solidFill>
                <a:latin typeface="Times New Roman"/>
                <a:ea typeface="+mn-lt"/>
                <a:cs typeface="+mn-lt"/>
              </a:rPr>
              <a:t>.</a:t>
            </a:r>
            <a:endParaRPr lang="tr-TR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tr-T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976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D7F9EC8-0E2C-4023-9DD1-73BEF6B80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82E1E07-0714-CB56-5B1A-33BACAAA9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565779" cy="1386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/>
              <a:t> Results: OR-Library Benchmarks</a:t>
            </a:r>
          </a:p>
          <a:p>
            <a:pPr>
              <a:lnSpc>
                <a:spcPct val="90000"/>
              </a:lnSpc>
            </a:pPr>
            <a:endParaRPr lang="en-US" sz="4600"/>
          </a:p>
          <a:p>
            <a:pPr>
              <a:lnSpc>
                <a:spcPct val="90000"/>
              </a:lnSpc>
            </a:pPr>
            <a:endParaRPr lang="en-US" sz="460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D646702-1788-B97D-918B-46834CD1E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Resim 4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F226AFA-8BBE-25E6-68EA-5976CAFAD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9" y="2524903"/>
            <a:ext cx="5515396" cy="3598795"/>
          </a:xfrm>
          <a:prstGeom prst="rect">
            <a:avLst/>
          </a:prstGeom>
        </p:spPr>
      </p:pic>
      <p:pic>
        <p:nvPicPr>
          <p:cNvPr id="4" name="İçerik Yer Tutucusu 3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BCAA4CB-80DA-C887-3857-AC0DEEF78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831" y="2566362"/>
            <a:ext cx="5515396" cy="3516063"/>
          </a:xfrm>
          <a:prstGeom prst="rect">
            <a:avLst/>
          </a:prstGeom>
        </p:spPr>
      </p:pic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6B4FCA5-23FA-C759-8E23-68410B350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22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D7F9EC8-0E2C-4023-9DD1-73BEF6B80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5DD874A-FB4A-6D88-E5F5-A89D1822B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565779" cy="138699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600" dirty="0">
                <a:latin typeface="Times New Roman"/>
                <a:cs typeface="Times New Roman"/>
              </a:rPr>
              <a:t>Results: OR-Library Benchmarks</a:t>
            </a:r>
            <a:endParaRPr lang="tr-TR" dirty="0">
              <a:latin typeface="Times New Roman"/>
              <a:cs typeface="Times New Roman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D646702-1788-B97D-918B-46834CD1E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İçerik Yer Tutucusu 3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9EA2520-2FAE-E2F9-850A-78F8EDF7F1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7869" y="2559374"/>
            <a:ext cx="5515396" cy="3529853"/>
          </a:xfrm>
          <a:prstGeom prst="rect">
            <a:avLst/>
          </a:prstGeom>
        </p:spPr>
      </p:pic>
      <p:pic>
        <p:nvPicPr>
          <p:cNvPr id="5" name="Resim 4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EFE6C5F-682C-AFA1-1FE3-CD8605193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831" y="2580150"/>
            <a:ext cx="5515396" cy="3488487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6B4FCA5-23FA-C759-8E23-68410B350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27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BBC6B9-95A3-6758-BBAB-A6E7555A8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err="1">
                <a:latin typeface="Times New Roman"/>
                <a:cs typeface="Times New Roman"/>
              </a:rPr>
              <a:t>Discussion</a:t>
            </a:r>
            <a:r>
              <a:rPr lang="tr-TR" dirty="0">
                <a:latin typeface="Times New Roman"/>
                <a:cs typeface="Times New Roman"/>
              </a:rPr>
              <a:t> </a:t>
            </a:r>
            <a:r>
              <a:rPr lang="tr-TR" err="1">
                <a:latin typeface="Times New Roman"/>
                <a:cs typeface="Times New Roman"/>
              </a:rPr>
              <a:t>and</a:t>
            </a:r>
            <a:r>
              <a:rPr lang="tr-TR" dirty="0">
                <a:latin typeface="Times New Roman"/>
                <a:cs typeface="Times New Roman"/>
              </a:rPr>
              <a:t> </a:t>
            </a:r>
            <a:r>
              <a:rPr lang="tr-TR" err="1">
                <a:latin typeface="Times New Roman"/>
                <a:cs typeface="Times New Roman"/>
              </a:rPr>
              <a:t>Conclusion</a:t>
            </a:r>
            <a:endParaRPr lang="tr-TR">
              <a:latin typeface="Times New Roman"/>
              <a:cs typeface="Times New Roman"/>
            </a:endParaRPr>
          </a:p>
          <a:p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35BB232-F79E-E379-6567-B9D128FF9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results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indicate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that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Tabu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Search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provides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a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robust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effective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solution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approach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for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1D Bin Packing Problem.</a:t>
            </a:r>
            <a:endParaRPr lang="tr-TR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algorithm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balances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solution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quality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computation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time,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particularly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for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medium-to-large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instances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.</a:t>
            </a:r>
            <a:endParaRPr lang="tr-TR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While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no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direct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comparison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with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other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metaheuristics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was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conducted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,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results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confirm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that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the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proposed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design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satisfies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all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project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requirements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and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performs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 </a:t>
            </a:r>
            <a:r>
              <a:rPr lang="tr-TR" err="1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reliably</a:t>
            </a:r>
            <a:r>
              <a:rPr lang="tr-TR" dirty="0">
                <a:solidFill>
                  <a:srgbClr val="000000"/>
                </a:solidFill>
                <a:latin typeface="Times New Roman"/>
                <a:ea typeface="+mn-lt"/>
                <a:cs typeface="+mn-lt"/>
              </a:rPr>
              <a:t>.</a:t>
            </a:r>
            <a:endParaRPr lang="tr-TR" dirty="0">
              <a:latin typeface="Times New Roman"/>
            </a:endParaRP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15866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B101F09-5153-C520-E1D8-726C3133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4497539-B93B-9451-DAD9-698E6DE22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tr-TR" sz="4600" dirty="0">
                <a:latin typeface="Times New Roman"/>
                <a:cs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7255083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6" baseType="lpstr">
      <vt:lpstr>GestaltVTI</vt:lpstr>
      <vt:lpstr>1D Bin Packing Problem using Tabu Search </vt:lpstr>
      <vt:lpstr>OUTLINE</vt:lpstr>
      <vt:lpstr>Problem Definition: 1D Bin Packing </vt:lpstr>
      <vt:lpstr>Formal Problem Definition </vt:lpstr>
      <vt:lpstr>Dataset and Benchmark Instances </vt:lpstr>
      <vt:lpstr>Solution Representation</vt:lpstr>
      <vt:lpstr>Tabu Search Algorithm </vt:lpstr>
      <vt:lpstr>Tabu Search Algorithm Pseudo Code </vt:lpstr>
      <vt:lpstr>Experimental Setup </vt:lpstr>
      <vt:lpstr>TP2 &amp; Synthetic Instances </vt:lpstr>
      <vt:lpstr> Results: OR-Library Benchmarks </vt:lpstr>
      <vt:lpstr> Results: OR-Library Benchmarks  </vt:lpstr>
      <vt:lpstr>Results: OR-Library Benchmarks</vt:lpstr>
      <vt:lpstr>Discussion and Conclusion 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164</cp:revision>
  <dcterms:created xsi:type="dcterms:W3CDTF">2025-12-21T16:16:07Z</dcterms:created>
  <dcterms:modified xsi:type="dcterms:W3CDTF">2025-12-21T20:22:26Z</dcterms:modified>
</cp:coreProperties>
</file>